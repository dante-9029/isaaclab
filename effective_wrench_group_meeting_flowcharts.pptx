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40000"/>
            <a:ext cx="11192000" cy="48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20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引言逻辑闭环：从真实飞行到可用仿真模型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900000" y="760000"/>
            <a:ext cx="10392000" cy="30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核心问题：如何把真实飞行日志中的 effective wrench 转化为可解释、可验证、可用于仿真的气动模型修正？</a:t>
            </a:r>
          </a:p>
        </p:txBody>
      </p:sp>
      <p:sp>
        <p:nvSpPr>
          <p:cNvPr id="4" name="Card 1"/>
          <p:cNvSpPr txBox="1"/>
          <p:nvPr/>
        </p:nvSpPr>
        <p:spPr>
          <a:xfrm>
            <a:off x="330000" y="1700000"/>
            <a:ext cx="1822000" cy="1650000"/>
          </a:xfrm>
          <a:prstGeom prst="roundRect">
            <a:avLst/>
          </a:prstGeom>
          <a:solidFill>
            <a:srgbClr val="EAF3FA"/>
          </a:solidFill>
          <a:ln w="9525">
            <a:solidFill>
              <a:srgbClr val="8EA4B8"/>
            </a:solidFill>
          </a:ln>
        </p:spPr>
      </p:sp>
      <p:sp>
        <p:nvSpPr>
          <p:cNvPr id="5" name="Number 1"/>
          <p:cNvSpPr txBox="1"/>
          <p:nvPr/>
        </p:nvSpPr>
        <p:spPr>
          <a:xfrm>
            <a:off x="420000" y="1790000"/>
            <a:ext cx="360000" cy="360000"/>
          </a:xfrm>
          <a:prstGeom prst="ellipse">
            <a:avLst/>
          </a:prstGeom>
          <a:solidFill>
            <a:srgbClr val="1F6F9F"/>
          </a:solidFill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Card 1 Title"/>
          <p:cNvSpPr txBox="1"/>
          <p:nvPr/>
        </p:nvSpPr>
        <p:spPr>
          <a:xfrm>
            <a:off x="480000" y="2200000"/>
            <a:ext cx="1522000" cy="52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3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真实扑翼飞行日志</a:t>
            </a:r>
          </a:p>
        </p:txBody>
      </p:sp>
      <p:sp>
        <p:nvSpPr>
          <p:cNvPr id="7" name="Card 1 Subtitle"/>
          <p:cNvSpPr txBox="1"/>
          <p:nvPr/>
        </p:nvSpPr>
        <p:spPr>
          <a:xfrm>
            <a:off x="480000" y="2750000"/>
            <a:ext cx="1522000" cy="50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户外飞行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控制、状态、相位、空速</a:t>
            </a:r>
          </a:p>
        </p:txBody>
      </p:sp>
      <p:cxnSp>
        <p:nvCxnSpPr>
          <p:cNvPr id="8" name="Arrow"/>
          <p:cNvCxnSpPr/>
          <p:nvPr/>
        </p:nvCxnSpPr>
        <p:spPr>
          <a:xfrm>
            <a:off x="2170000" y="2525000"/>
            <a:ext cx="84000" cy="1"/>
          </a:xfrm>
          <a:prstGeom prst="straightConnector1">
            <a:avLst/>
          </a:prstGeom>
          <a:ln w="15240">
            <a:solidFill>
              <a:srgbClr val="1F6F9F"/>
            </a:solidFill>
            <a:tailEnd type="triangle" w="med" len="med"/>
          </a:ln>
        </p:spPr>
      </p:cxnSp>
      <p:sp>
        <p:nvSpPr>
          <p:cNvPr id="9" name="Card 2"/>
          <p:cNvSpPr txBox="1"/>
          <p:nvPr/>
        </p:nvSpPr>
        <p:spPr>
          <a:xfrm>
            <a:off x="2272000" y="1700000"/>
            <a:ext cx="1822000" cy="1650000"/>
          </a:xfrm>
          <a:prstGeom prst="roundRect">
            <a:avLst/>
          </a:prstGeom>
          <a:solidFill>
            <a:srgbClr val="E8F5F4"/>
          </a:solidFill>
          <a:ln w="9525">
            <a:solidFill>
              <a:srgbClr val="8EA4B8"/>
            </a:solidFill>
          </a:ln>
        </p:spPr>
      </p:sp>
      <p:sp>
        <p:nvSpPr>
          <p:cNvPr id="10" name="Number 2"/>
          <p:cNvSpPr txBox="1"/>
          <p:nvPr/>
        </p:nvSpPr>
        <p:spPr>
          <a:xfrm>
            <a:off x="2362000" y="1790000"/>
            <a:ext cx="360000" cy="360000"/>
          </a:xfrm>
          <a:prstGeom prst="ellipse">
            <a:avLst/>
          </a:prstGeom>
          <a:solidFill>
            <a:srgbClr val="2C9C9A"/>
          </a:solidFill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Card 2 Title"/>
          <p:cNvSpPr txBox="1"/>
          <p:nvPr/>
        </p:nvSpPr>
        <p:spPr>
          <a:xfrm>
            <a:off x="2422000" y="2200000"/>
            <a:ext cx="1522000" cy="52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3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重构 effective wrench</a:t>
            </a:r>
          </a:p>
        </p:txBody>
      </p:sp>
      <p:sp>
        <p:nvSpPr>
          <p:cNvPr id="12" name="Card 2 Subtitle"/>
          <p:cNvSpPr txBox="1"/>
          <p:nvPr/>
        </p:nvSpPr>
        <p:spPr>
          <a:xfrm>
            <a:off x="2422000" y="2750000"/>
            <a:ext cx="1522000" cy="50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非重力外力/力矩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面向仿真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4112000" y="2525000"/>
            <a:ext cx="84000" cy="1"/>
          </a:xfrm>
          <a:prstGeom prst="straightConnector1">
            <a:avLst/>
          </a:prstGeom>
          <a:ln w="15240">
            <a:solidFill>
              <a:srgbClr val="1F6F9F"/>
            </a:solidFill>
            <a:tailEnd type="triangle" w="med" len="med"/>
          </a:ln>
        </p:spPr>
      </p:cxnSp>
      <p:sp>
        <p:nvSpPr>
          <p:cNvPr id="14" name="Card 3"/>
          <p:cNvSpPr txBox="1"/>
          <p:nvPr/>
        </p:nvSpPr>
        <p:spPr>
          <a:xfrm>
            <a:off x="4214000" y="1700000"/>
            <a:ext cx="1822000" cy="1650000"/>
          </a:xfrm>
          <a:prstGeom prst="roundRect">
            <a:avLst/>
          </a:prstGeom>
          <a:solidFill>
            <a:srgbClr val="EAF3FA"/>
          </a:solidFill>
          <a:ln w="9525">
            <a:solidFill>
              <a:srgbClr val="8EA4B8"/>
            </a:solidFill>
          </a:ln>
        </p:spPr>
      </p:sp>
      <p:sp>
        <p:nvSpPr>
          <p:cNvPr id="15" name="Number 3"/>
          <p:cNvSpPr txBox="1"/>
          <p:nvPr/>
        </p:nvSpPr>
        <p:spPr>
          <a:xfrm>
            <a:off x="4304000" y="1790000"/>
            <a:ext cx="360000" cy="360000"/>
          </a:xfrm>
          <a:prstGeom prst="ellipse">
            <a:avLst/>
          </a:prstGeom>
          <a:solidFill>
            <a:srgbClr val="1F6F9F"/>
          </a:solidFill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Card 3 Title"/>
          <p:cNvSpPr txBox="1"/>
          <p:nvPr/>
        </p:nvSpPr>
        <p:spPr>
          <a:xfrm>
            <a:off x="4364000" y="2200000"/>
            <a:ext cx="1522000" cy="52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3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解析气动先验</a:t>
            </a:r>
          </a:p>
        </p:txBody>
      </p:sp>
      <p:sp>
        <p:nvSpPr>
          <p:cNvPr id="17" name="Card 3 Subtitle"/>
          <p:cNvSpPr txBox="1"/>
          <p:nvPr/>
        </p:nvSpPr>
        <p:spPr>
          <a:xfrm>
            <a:off x="4364000" y="2750000"/>
            <a:ext cx="1522000" cy="50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calibrated DeLaurier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force prior</a:t>
            </a:r>
          </a:p>
        </p:txBody>
      </p:sp>
      <p:cxnSp>
        <p:nvCxnSpPr>
          <p:cNvPr id="18" name="Arrow"/>
          <p:cNvCxnSpPr/>
          <p:nvPr/>
        </p:nvCxnSpPr>
        <p:spPr>
          <a:xfrm>
            <a:off x="6054000" y="2525000"/>
            <a:ext cx="84000" cy="1"/>
          </a:xfrm>
          <a:prstGeom prst="straightConnector1">
            <a:avLst/>
          </a:prstGeom>
          <a:ln w="15240">
            <a:solidFill>
              <a:srgbClr val="1F6F9F"/>
            </a:solidFill>
            <a:tailEnd type="triangle" w="med" len="med"/>
          </a:ln>
        </p:spPr>
      </p:cxnSp>
      <p:sp>
        <p:nvSpPr>
          <p:cNvPr id="19" name="Card 4"/>
          <p:cNvSpPr txBox="1"/>
          <p:nvPr/>
        </p:nvSpPr>
        <p:spPr>
          <a:xfrm>
            <a:off x="6156000" y="1700000"/>
            <a:ext cx="1822000" cy="1650000"/>
          </a:xfrm>
          <a:prstGeom prst="roundRect">
            <a:avLst/>
          </a:prstGeom>
          <a:solidFill>
            <a:srgbClr val="E8F5F4"/>
          </a:solidFill>
          <a:ln w="9525">
            <a:solidFill>
              <a:srgbClr val="8EA4B8"/>
            </a:solidFill>
          </a:ln>
        </p:spPr>
      </p:sp>
      <p:sp>
        <p:nvSpPr>
          <p:cNvPr id="20" name="Number 4"/>
          <p:cNvSpPr txBox="1"/>
          <p:nvPr/>
        </p:nvSpPr>
        <p:spPr>
          <a:xfrm>
            <a:off x="6246000" y="1790000"/>
            <a:ext cx="360000" cy="360000"/>
          </a:xfrm>
          <a:prstGeom prst="ellipse">
            <a:avLst/>
          </a:prstGeom>
          <a:solidFill>
            <a:srgbClr val="2C9C9A"/>
          </a:solidFill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Card 4 Title"/>
          <p:cNvSpPr txBox="1"/>
          <p:nvPr/>
        </p:nvSpPr>
        <p:spPr>
          <a:xfrm>
            <a:off x="6306000" y="2200000"/>
            <a:ext cx="1522000" cy="52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3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发现模型残差</a:t>
            </a:r>
          </a:p>
        </p:txBody>
      </p:sp>
      <p:sp>
        <p:nvSpPr>
          <p:cNvPr id="22" name="Card 4 Subtitle"/>
          <p:cNvSpPr txBox="1"/>
          <p:nvPr/>
        </p:nvSpPr>
        <p:spPr>
          <a:xfrm>
            <a:off x="6306000" y="2750000"/>
            <a:ext cx="1522000" cy="50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phase / frequency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condition structure</a:t>
            </a:r>
          </a:p>
        </p:txBody>
      </p:sp>
      <p:cxnSp>
        <p:nvCxnSpPr>
          <p:cNvPr id="23" name="Arrow"/>
          <p:cNvCxnSpPr/>
          <p:nvPr/>
        </p:nvCxnSpPr>
        <p:spPr>
          <a:xfrm>
            <a:off x="7996000" y="2525000"/>
            <a:ext cx="84000" cy="1"/>
          </a:xfrm>
          <a:prstGeom prst="straightConnector1">
            <a:avLst/>
          </a:prstGeom>
          <a:ln w="15240">
            <a:solidFill>
              <a:srgbClr val="1F6F9F"/>
            </a:solidFill>
            <a:tailEnd type="triangle" w="med" len="med"/>
          </a:ln>
        </p:spPr>
      </p:cxnSp>
      <p:sp>
        <p:nvSpPr>
          <p:cNvPr id="24" name="Card 5"/>
          <p:cNvSpPr txBox="1"/>
          <p:nvPr/>
        </p:nvSpPr>
        <p:spPr>
          <a:xfrm>
            <a:off x="8098000" y="1700000"/>
            <a:ext cx="1822000" cy="1650000"/>
          </a:xfrm>
          <a:prstGeom prst="roundRect">
            <a:avLst/>
          </a:prstGeom>
          <a:solidFill>
            <a:srgbClr val="EAF3FA"/>
          </a:solidFill>
          <a:ln w="9525">
            <a:solidFill>
              <a:srgbClr val="8EA4B8"/>
            </a:solidFill>
          </a:ln>
        </p:spPr>
      </p:sp>
      <p:sp>
        <p:nvSpPr>
          <p:cNvPr id="25" name="Number 5"/>
          <p:cNvSpPr txBox="1"/>
          <p:nvPr/>
        </p:nvSpPr>
        <p:spPr>
          <a:xfrm>
            <a:off x="8188000" y="1790000"/>
            <a:ext cx="360000" cy="360000"/>
          </a:xfrm>
          <a:prstGeom prst="ellipse">
            <a:avLst/>
          </a:prstGeom>
          <a:solidFill>
            <a:srgbClr val="1F6F9F"/>
          </a:solidFill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Card 5 Title"/>
          <p:cNvSpPr txBox="1"/>
          <p:nvPr/>
        </p:nvSpPr>
        <p:spPr>
          <a:xfrm>
            <a:off x="8248000" y="2200000"/>
            <a:ext cx="1522000" cy="52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3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通道感知混合模型</a:t>
            </a:r>
          </a:p>
        </p:txBody>
      </p:sp>
      <p:sp>
        <p:nvSpPr>
          <p:cNvPr id="27" name="Card 5 Subtitle"/>
          <p:cNvSpPr txBox="1"/>
          <p:nvPr/>
        </p:nvSpPr>
        <p:spPr>
          <a:xfrm>
            <a:off x="8248000" y="2750000"/>
            <a:ext cx="1522000" cy="50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force: prior + residual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moment: direct head</a:t>
            </a:r>
          </a:p>
        </p:txBody>
      </p:sp>
      <p:cxnSp>
        <p:nvCxnSpPr>
          <p:cNvPr id="28" name="Arrow"/>
          <p:cNvCxnSpPr/>
          <p:nvPr/>
        </p:nvCxnSpPr>
        <p:spPr>
          <a:xfrm>
            <a:off x="9938000" y="2525000"/>
            <a:ext cx="84000" cy="1"/>
          </a:xfrm>
          <a:prstGeom prst="straightConnector1">
            <a:avLst/>
          </a:prstGeom>
          <a:ln w="15240">
            <a:solidFill>
              <a:srgbClr val="1F6F9F"/>
            </a:solidFill>
            <a:tailEnd type="triangle" w="med" len="med"/>
          </a:ln>
        </p:spPr>
      </p:cxnSp>
      <p:sp>
        <p:nvSpPr>
          <p:cNvPr id="29" name="Card 6"/>
          <p:cNvSpPr txBox="1"/>
          <p:nvPr/>
        </p:nvSpPr>
        <p:spPr>
          <a:xfrm>
            <a:off x="10040000" y="1700000"/>
            <a:ext cx="1822000" cy="1650000"/>
          </a:xfrm>
          <a:prstGeom prst="roundRect">
            <a:avLst/>
          </a:prstGeom>
          <a:solidFill>
            <a:srgbClr val="E8F5F4"/>
          </a:solidFill>
          <a:ln w="9525">
            <a:solidFill>
              <a:srgbClr val="8EA4B8"/>
            </a:solidFill>
          </a:ln>
        </p:spPr>
      </p:sp>
      <p:sp>
        <p:nvSpPr>
          <p:cNvPr id="30" name="Number 6"/>
          <p:cNvSpPr txBox="1"/>
          <p:nvPr/>
        </p:nvSpPr>
        <p:spPr>
          <a:xfrm>
            <a:off x="10130000" y="1790000"/>
            <a:ext cx="360000" cy="360000"/>
          </a:xfrm>
          <a:prstGeom prst="ellipse">
            <a:avLst/>
          </a:prstGeom>
          <a:solidFill>
            <a:srgbClr val="2C9C9A"/>
          </a:solidFill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Card 6 Title"/>
          <p:cNvSpPr txBox="1"/>
          <p:nvPr/>
        </p:nvSpPr>
        <p:spPr>
          <a:xfrm>
            <a:off x="10190000" y="2200000"/>
            <a:ext cx="1522000" cy="52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3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仿真验证目标</a:t>
            </a:r>
          </a:p>
        </p:txBody>
      </p:sp>
      <p:sp>
        <p:nvSpPr>
          <p:cNvPr id="32" name="Card 6 Subtitle"/>
          <p:cNvSpPr txBox="1"/>
          <p:nvPr/>
        </p:nvSpPr>
        <p:spPr>
          <a:xfrm>
            <a:off x="10190000" y="2750000"/>
            <a:ext cx="1522000" cy="50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短窗口 rollout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局部动力学一致性</a:t>
            </a:r>
          </a:p>
        </p:txBody>
      </p:sp>
      <p:cxnSp>
        <p:nvCxnSpPr>
          <p:cNvPr id="33" name="Feedback"/>
          <p:cNvCxnSpPr/>
          <p:nvPr/>
        </p:nvCxnSpPr>
        <p:spPr>
          <a:xfrm flipH="1">
            <a:off x="5125000" y="3650000"/>
            <a:ext cx="3884000" cy="1"/>
          </a:xfrm>
          <a:prstGeom prst="straightConnector1">
            <a:avLst/>
          </a:prstGeom>
          <a:ln w="12700">
            <a:solidFill>
              <a:srgbClr val="D97706"/>
            </a:solidFill>
            <a:tailEnd type="triangle" w="med" len="med"/>
          </a:ln>
        </p:spPr>
      </p:cxnSp>
      <p:sp>
        <p:nvSpPr>
          <p:cNvPr id="34" name="Feedback label"/>
          <p:cNvSpPr txBox="1"/>
          <p:nvPr/>
        </p:nvSpPr>
        <p:spPr>
          <a:xfrm>
            <a:off x="4214000" y="3680000"/>
            <a:ext cx="5706000" cy="23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8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residual diagnosis guides model repair</a:t>
            </a:r>
          </a:p>
        </p:txBody>
      </p:sp>
      <p:sp>
        <p:nvSpPr>
          <p:cNvPr id="35" name="Takeaway band"/>
          <p:cNvSpPr txBox="1"/>
          <p:nvPr/>
        </p:nvSpPr>
        <p:spPr>
          <a:xfrm>
            <a:off x="600000" y="5650000"/>
            <a:ext cx="10992000" cy="620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2C9C9A"/>
            </a:solidFill>
          </a:ln>
        </p:spPr>
      </p:sp>
      <p:sp>
        <p:nvSpPr>
          <p:cNvPr id="36" name="Takeaway label"/>
          <p:cNvSpPr txBox="1"/>
          <p:nvPr/>
        </p:nvSpPr>
        <p:spPr>
          <a:xfrm>
            <a:off x="780000" y="5770000"/>
            <a:ext cx="95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050" b="1">
                <a:solidFill>
                  <a:srgbClr val="2C9C9A"/>
                </a:solidFill>
                <a:latin typeface="Microsoft YaHei"/>
                <a:ea typeface="Microsoft YaHei"/>
                <a:cs typeface="Microsoft YaHei"/>
              </a:rPr>
              <a:t>核心主张</a:t>
            </a:r>
          </a:p>
        </p:txBody>
      </p:sp>
      <p:sp>
        <p:nvSpPr>
          <p:cNvPr id="37" name="Takeaway text"/>
          <p:cNvSpPr txBox="1"/>
          <p:nvPr/>
        </p:nvSpPr>
        <p:spPr>
          <a:xfrm>
            <a:off x="1800000" y="5685000"/>
            <a:ext cx="9592000" cy="43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l"/>
            <a:r>
              <a:rPr lang="zh-CN" sz="120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不是 NN 替代物理模型，而是用真实飞行 residual 诊断并修正物理先验的适用边界。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40000"/>
            <a:ext cx="11192000" cy="48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20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论文内容组织：问题定义 → 模型 → 诊断 → 验证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900000" y="760000"/>
            <a:ext cx="10392000" cy="30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一条主线：真实飞行 effective wrench 作为目标，DeLaurier force prior 作为结构，residual 诊断指导模型修正。</a:t>
            </a:r>
          </a:p>
        </p:txBody>
      </p:sp>
      <p:sp>
        <p:nvSpPr>
          <p:cNvPr id="4" name="Card 1"/>
          <p:cNvSpPr txBox="1"/>
          <p:nvPr/>
        </p:nvSpPr>
        <p:spPr>
          <a:xfrm>
            <a:off x="280000" y="1430000"/>
            <a:ext cx="1588857" cy="1780000"/>
          </a:xfrm>
          <a:prstGeom prst="roundRect">
            <a:avLst/>
          </a:prstGeom>
          <a:solidFill>
            <a:srgbClr val="EAF3FA"/>
          </a:solidFill>
          <a:ln w="9525">
            <a:solidFill>
              <a:srgbClr val="8EA4B8"/>
            </a:solidFill>
          </a:ln>
        </p:spPr>
      </p:sp>
      <p:sp>
        <p:nvSpPr>
          <p:cNvPr id="5" name="Number 1"/>
          <p:cNvSpPr txBox="1"/>
          <p:nvPr/>
        </p:nvSpPr>
        <p:spPr>
          <a:xfrm>
            <a:off x="370000" y="1520000"/>
            <a:ext cx="360000" cy="360000"/>
          </a:xfrm>
          <a:prstGeom prst="ellipse">
            <a:avLst/>
          </a:prstGeom>
          <a:solidFill>
            <a:srgbClr val="1F6F9F"/>
          </a:solidFill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Card 1 Title"/>
          <p:cNvSpPr txBox="1"/>
          <p:nvPr/>
        </p:nvSpPr>
        <p:spPr>
          <a:xfrm>
            <a:off x="430000" y="1930000"/>
            <a:ext cx="1288857" cy="52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3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问题与数据</a:t>
            </a:r>
          </a:p>
        </p:txBody>
      </p:sp>
      <p:sp>
        <p:nvSpPr>
          <p:cNvPr id="7" name="Card 1 Subtitle"/>
          <p:cNvSpPr txBox="1"/>
          <p:nvPr/>
        </p:nvSpPr>
        <p:spPr>
          <a:xfrm>
            <a:off x="430000" y="2480000"/>
            <a:ext cx="1288857" cy="63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真实飞行日志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effective wrench label</a:t>
            </a:r>
          </a:p>
        </p:txBody>
      </p:sp>
      <p:cxnSp>
        <p:nvCxnSpPr>
          <p:cNvPr id="8" name="Arrow"/>
          <p:cNvCxnSpPr/>
          <p:nvPr/>
        </p:nvCxnSpPr>
        <p:spPr>
          <a:xfrm>
            <a:off x="1880857" y="2320000"/>
            <a:ext cx="61000" cy="1"/>
          </a:xfrm>
          <a:prstGeom prst="straightConnector1">
            <a:avLst/>
          </a:prstGeom>
          <a:ln w="12700">
            <a:solidFill>
              <a:srgbClr val="1F6F9F"/>
            </a:solidFill>
            <a:tailEnd type="triangle" w="med" len="med"/>
          </a:ln>
        </p:spPr>
      </p:cxnSp>
      <p:sp>
        <p:nvSpPr>
          <p:cNvPr id="9" name="Card 2"/>
          <p:cNvSpPr txBox="1"/>
          <p:nvPr/>
        </p:nvSpPr>
        <p:spPr>
          <a:xfrm>
            <a:off x="1953857" y="1430000"/>
            <a:ext cx="1588857" cy="1780000"/>
          </a:xfrm>
          <a:prstGeom prst="roundRect">
            <a:avLst/>
          </a:prstGeom>
          <a:solidFill>
            <a:srgbClr val="E8F5F4"/>
          </a:solidFill>
          <a:ln w="9525">
            <a:solidFill>
              <a:srgbClr val="8EA4B8"/>
            </a:solidFill>
          </a:ln>
        </p:spPr>
      </p:sp>
      <p:sp>
        <p:nvSpPr>
          <p:cNvPr id="10" name="Number 2"/>
          <p:cNvSpPr txBox="1"/>
          <p:nvPr/>
        </p:nvSpPr>
        <p:spPr>
          <a:xfrm>
            <a:off x="2043857" y="1520000"/>
            <a:ext cx="360000" cy="360000"/>
          </a:xfrm>
          <a:prstGeom prst="ellipse">
            <a:avLst/>
          </a:prstGeom>
          <a:solidFill>
            <a:srgbClr val="2C9C9A"/>
          </a:solidFill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Card 2 Title"/>
          <p:cNvSpPr txBox="1"/>
          <p:nvPr/>
        </p:nvSpPr>
        <p:spPr>
          <a:xfrm>
            <a:off x="2103857" y="1930000"/>
            <a:ext cx="1288857" cy="52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3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物理先验校准</a:t>
            </a:r>
          </a:p>
        </p:txBody>
      </p:sp>
      <p:sp>
        <p:nvSpPr>
          <p:cNvPr id="12" name="Card 2 Subtitle"/>
          <p:cNvSpPr txBox="1"/>
          <p:nvPr/>
        </p:nvSpPr>
        <p:spPr>
          <a:xfrm>
            <a:off x="2103857" y="2480000"/>
            <a:ext cx="1288857" cy="63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DeLaurier-style force prior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training-only calibration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3554714" y="2320000"/>
            <a:ext cx="61000" cy="1"/>
          </a:xfrm>
          <a:prstGeom prst="straightConnector1">
            <a:avLst/>
          </a:prstGeom>
          <a:ln w="12700">
            <a:solidFill>
              <a:srgbClr val="1F6F9F"/>
            </a:solidFill>
            <a:tailEnd type="triangle" w="med" len="med"/>
          </a:ln>
        </p:spPr>
      </p:cxnSp>
      <p:sp>
        <p:nvSpPr>
          <p:cNvPr id="14" name="Card 3"/>
          <p:cNvSpPr txBox="1"/>
          <p:nvPr/>
        </p:nvSpPr>
        <p:spPr>
          <a:xfrm>
            <a:off x="3627714" y="1430000"/>
            <a:ext cx="1588857" cy="1780000"/>
          </a:xfrm>
          <a:prstGeom prst="roundRect">
            <a:avLst/>
          </a:prstGeom>
          <a:solidFill>
            <a:srgbClr val="E8F5F4"/>
          </a:solidFill>
          <a:ln w="9525">
            <a:solidFill>
              <a:srgbClr val="8EA4B8"/>
            </a:solidFill>
          </a:ln>
        </p:spPr>
      </p:sp>
      <p:sp>
        <p:nvSpPr>
          <p:cNvPr id="15" name="Number 3"/>
          <p:cNvSpPr txBox="1"/>
          <p:nvPr/>
        </p:nvSpPr>
        <p:spPr>
          <a:xfrm>
            <a:off x="3717714" y="1520000"/>
            <a:ext cx="360000" cy="360000"/>
          </a:xfrm>
          <a:prstGeom prst="ellipse">
            <a:avLst/>
          </a:prstGeom>
          <a:solidFill>
            <a:srgbClr val="1F6F9F"/>
          </a:solidFill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Card 3 Title"/>
          <p:cNvSpPr txBox="1"/>
          <p:nvPr/>
        </p:nvSpPr>
        <p:spPr>
          <a:xfrm>
            <a:off x="3777714" y="1930000"/>
            <a:ext cx="1288857" cy="52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3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主模型设计</a:t>
            </a:r>
          </a:p>
        </p:txBody>
      </p:sp>
      <p:sp>
        <p:nvSpPr>
          <p:cNvPr id="17" name="Card 3 Subtitle"/>
          <p:cNvSpPr txBox="1"/>
          <p:nvPr/>
        </p:nvSpPr>
        <p:spPr>
          <a:xfrm>
            <a:off x="3777714" y="2480000"/>
            <a:ext cx="1288857" cy="63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force-prior + residual Transformer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moment-direct head</a:t>
            </a:r>
          </a:p>
        </p:txBody>
      </p:sp>
      <p:cxnSp>
        <p:nvCxnSpPr>
          <p:cNvPr id="18" name="Arrow"/>
          <p:cNvCxnSpPr/>
          <p:nvPr/>
        </p:nvCxnSpPr>
        <p:spPr>
          <a:xfrm>
            <a:off x="5228571" y="2320000"/>
            <a:ext cx="61000" cy="1"/>
          </a:xfrm>
          <a:prstGeom prst="straightConnector1">
            <a:avLst/>
          </a:prstGeom>
          <a:ln w="12700">
            <a:solidFill>
              <a:srgbClr val="1F6F9F"/>
            </a:solidFill>
            <a:tailEnd type="triangle" w="med" len="med"/>
          </a:ln>
        </p:spPr>
      </p:cxnSp>
      <p:sp>
        <p:nvSpPr>
          <p:cNvPr id="19" name="Card 4"/>
          <p:cNvSpPr txBox="1"/>
          <p:nvPr/>
        </p:nvSpPr>
        <p:spPr>
          <a:xfrm>
            <a:off x="5301571" y="1430000"/>
            <a:ext cx="1588857" cy="1780000"/>
          </a:xfrm>
          <a:prstGeom prst="roundRect">
            <a:avLst/>
          </a:prstGeom>
          <a:solidFill>
            <a:srgbClr val="EAF3FA"/>
          </a:solidFill>
          <a:ln w="9525">
            <a:solidFill>
              <a:srgbClr val="8EA4B8"/>
            </a:solidFill>
          </a:ln>
        </p:spPr>
      </p:sp>
      <p:sp>
        <p:nvSpPr>
          <p:cNvPr id="20" name="Number 4"/>
          <p:cNvSpPr txBox="1"/>
          <p:nvPr/>
        </p:nvSpPr>
        <p:spPr>
          <a:xfrm>
            <a:off x="5391571" y="1520000"/>
            <a:ext cx="360000" cy="360000"/>
          </a:xfrm>
          <a:prstGeom prst="ellipse">
            <a:avLst/>
          </a:prstGeom>
          <a:solidFill>
            <a:srgbClr val="2C9C9A"/>
          </a:solidFill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Card 4 Title"/>
          <p:cNvSpPr txBox="1"/>
          <p:nvPr/>
        </p:nvSpPr>
        <p:spPr>
          <a:xfrm>
            <a:off x="5451571" y="1930000"/>
            <a:ext cx="1288857" cy="52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3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模型对比实验</a:t>
            </a:r>
          </a:p>
        </p:txBody>
      </p:sp>
      <p:sp>
        <p:nvSpPr>
          <p:cNvPr id="22" name="Card 4 Subtitle"/>
          <p:cNvSpPr txBox="1"/>
          <p:nvPr/>
        </p:nvSpPr>
        <p:spPr>
          <a:xfrm>
            <a:off x="5451571" y="2480000"/>
            <a:ext cx="1288857" cy="63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prior / direct NN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full-wrench residual / force3</a:t>
            </a:r>
          </a:p>
        </p:txBody>
      </p:sp>
      <p:cxnSp>
        <p:nvCxnSpPr>
          <p:cNvPr id="23" name="Arrow"/>
          <p:cNvCxnSpPr/>
          <p:nvPr/>
        </p:nvCxnSpPr>
        <p:spPr>
          <a:xfrm>
            <a:off x="6902428" y="2320000"/>
            <a:ext cx="61000" cy="1"/>
          </a:xfrm>
          <a:prstGeom prst="straightConnector1">
            <a:avLst/>
          </a:prstGeom>
          <a:ln w="12700">
            <a:solidFill>
              <a:srgbClr val="1F6F9F"/>
            </a:solidFill>
            <a:tailEnd type="triangle" w="med" len="med"/>
          </a:ln>
        </p:spPr>
      </p:cxnSp>
      <p:sp>
        <p:nvSpPr>
          <p:cNvPr id="24" name="Card 5"/>
          <p:cNvSpPr txBox="1"/>
          <p:nvPr/>
        </p:nvSpPr>
        <p:spPr>
          <a:xfrm>
            <a:off x="6975428" y="1430000"/>
            <a:ext cx="1588857" cy="1780000"/>
          </a:xfrm>
          <a:prstGeom prst="roundRect">
            <a:avLst/>
          </a:prstGeom>
          <a:solidFill>
            <a:srgbClr val="E8F5F4"/>
          </a:solidFill>
          <a:ln w="9525">
            <a:solidFill>
              <a:srgbClr val="8EA4B8"/>
            </a:solidFill>
          </a:ln>
        </p:spPr>
      </p:sp>
      <p:sp>
        <p:nvSpPr>
          <p:cNvPr id="25" name="Number 5"/>
          <p:cNvSpPr txBox="1"/>
          <p:nvPr/>
        </p:nvSpPr>
        <p:spPr>
          <a:xfrm>
            <a:off x="7065428" y="1520000"/>
            <a:ext cx="360000" cy="360000"/>
          </a:xfrm>
          <a:prstGeom prst="ellipse">
            <a:avLst/>
          </a:prstGeom>
          <a:solidFill>
            <a:srgbClr val="1F6F9F"/>
          </a:solidFill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Card 5 Title"/>
          <p:cNvSpPr txBox="1"/>
          <p:nvPr/>
        </p:nvSpPr>
        <p:spPr>
          <a:xfrm>
            <a:off x="7125428" y="1930000"/>
            <a:ext cx="1288857" cy="52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3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残差结构分析</a:t>
            </a:r>
          </a:p>
        </p:txBody>
      </p:sp>
      <p:sp>
        <p:nvSpPr>
          <p:cNvPr id="27" name="Card 5 Subtitle"/>
          <p:cNvSpPr txBox="1"/>
          <p:nvPr/>
        </p:nvSpPr>
        <p:spPr>
          <a:xfrm>
            <a:off x="7125428" y="2480000"/>
            <a:ext cx="1288857" cy="63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phase bins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frequency energy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condition bins</a:t>
            </a:r>
          </a:p>
        </p:txBody>
      </p:sp>
      <p:cxnSp>
        <p:nvCxnSpPr>
          <p:cNvPr id="28" name="Arrow"/>
          <p:cNvCxnSpPr/>
          <p:nvPr/>
        </p:nvCxnSpPr>
        <p:spPr>
          <a:xfrm>
            <a:off x="8576285" y="2320000"/>
            <a:ext cx="61000" cy="1"/>
          </a:xfrm>
          <a:prstGeom prst="straightConnector1">
            <a:avLst/>
          </a:prstGeom>
          <a:ln w="12700">
            <a:solidFill>
              <a:srgbClr val="1F6F9F"/>
            </a:solidFill>
            <a:tailEnd type="triangle" w="med" len="med"/>
          </a:ln>
        </p:spPr>
      </p:cxnSp>
      <p:sp>
        <p:nvSpPr>
          <p:cNvPr id="29" name="Card 6"/>
          <p:cNvSpPr txBox="1"/>
          <p:nvPr/>
        </p:nvSpPr>
        <p:spPr>
          <a:xfrm>
            <a:off x="8649285" y="1430000"/>
            <a:ext cx="1588857" cy="1780000"/>
          </a:xfrm>
          <a:prstGeom prst="roundRect">
            <a:avLst/>
          </a:prstGeom>
          <a:solidFill>
            <a:srgbClr val="EAF3FA"/>
          </a:solidFill>
          <a:ln w="9525">
            <a:solidFill>
              <a:srgbClr val="8EA4B8"/>
            </a:solidFill>
          </a:ln>
        </p:spPr>
      </p:sp>
      <p:sp>
        <p:nvSpPr>
          <p:cNvPr id="30" name="Number 6"/>
          <p:cNvSpPr txBox="1"/>
          <p:nvPr/>
        </p:nvSpPr>
        <p:spPr>
          <a:xfrm>
            <a:off x="8739285" y="1520000"/>
            <a:ext cx="360000" cy="360000"/>
          </a:xfrm>
          <a:prstGeom prst="ellipse">
            <a:avLst/>
          </a:prstGeom>
          <a:solidFill>
            <a:srgbClr val="2C9C9A"/>
          </a:solidFill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Card 6 Title"/>
          <p:cNvSpPr txBox="1"/>
          <p:nvPr/>
        </p:nvSpPr>
        <p:spPr>
          <a:xfrm>
            <a:off x="8799285" y="1930000"/>
            <a:ext cx="1288857" cy="52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3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解释性 grey-box</a:t>
            </a:r>
          </a:p>
        </p:txBody>
      </p:sp>
      <p:sp>
        <p:nvSpPr>
          <p:cNvPr id="32" name="Card 6 Subtitle"/>
          <p:cNvSpPr txBox="1"/>
          <p:nvPr/>
        </p:nvSpPr>
        <p:spPr>
          <a:xfrm>
            <a:off x="8799285" y="2480000"/>
            <a:ext cx="1288857" cy="63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low-order harmonic correction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partial residual closure</a:t>
            </a:r>
          </a:p>
        </p:txBody>
      </p:sp>
      <p:cxnSp>
        <p:nvCxnSpPr>
          <p:cNvPr id="33" name="Arrow"/>
          <p:cNvCxnSpPr/>
          <p:nvPr/>
        </p:nvCxnSpPr>
        <p:spPr>
          <a:xfrm>
            <a:off x="10250142" y="2320000"/>
            <a:ext cx="61000" cy="1"/>
          </a:xfrm>
          <a:prstGeom prst="straightConnector1">
            <a:avLst/>
          </a:prstGeom>
          <a:ln w="12700">
            <a:solidFill>
              <a:srgbClr val="1F6F9F"/>
            </a:solidFill>
            <a:tailEnd type="triangle" w="med" len="med"/>
          </a:ln>
        </p:spPr>
      </p:cxnSp>
      <p:sp>
        <p:nvSpPr>
          <p:cNvPr id="34" name="Card 7"/>
          <p:cNvSpPr txBox="1"/>
          <p:nvPr/>
        </p:nvSpPr>
        <p:spPr>
          <a:xfrm>
            <a:off x="10323142" y="1430000"/>
            <a:ext cx="1588857" cy="1780000"/>
          </a:xfrm>
          <a:prstGeom prst="roundRect">
            <a:avLst/>
          </a:prstGeom>
          <a:solidFill>
            <a:srgbClr val="EAF3FA"/>
          </a:solidFill>
          <a:ln w="9525">
            <a:solidFill>
              <a:srgbClr val="8EA4B8"/>
            </a:solidFill>
          </a:ln>
        </p:spPr>
      </p:sp>
      <p:sp>
        <p:nvSpPr>
          <p:cNvPr id="35" name="Number 7"/>
          <p:cNvSpPr txBox="1"/>
          <p:nvPr/>
        </p:nvSpPr>
        <p:spPr>
          <a:xfrm>
            <a:off x="10413142" y="1520000"/>
            <a:ext cx="360000" cy="360000"/>
          </a:xfrm>
          <a:prstGeom prst="ellipse">
            <a:avLst/>
          </a:prstGeom>
          <a:solidFill>
            <a:srgbClr val="1F6F9F"/>
          </a:solidFill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Card 7 Title"/>
          <p:cNvSpPr txBox="1"/>
          <p:nvPr/>
        </p:nvSpPr>
        <p:spPr>
          <a:xfrm>
            <a:off x="10473142" y="1930000"/>
            <a:ext cx="1288857" cy="52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35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仿真相关验证</a:t>
            </a:r>
          </a:p>
        </p:txBody>
      </p:sp>
      <p:sp>
        <p:nvSpPr>
          <p:cNvPr id="37" name="Card 7 Subtitle"/>
          <p:cNvSpPr txBox="1"/>
          <p:nvPr/>
        </p:nvSpPr>
        <p:spPr>
          <a:xfrm>
            <a:off x="10473142" y="2480000"/>
            <a:ext cx="1288857" cy="63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short-horizon rollout</a:t>
            </a:r>
          </a:p>
          <a:p>
            <a:pPr algn="ctr"/>
            <a:r>
              <a:rPr lang="zh-CN"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local consistency</a:t>
            </a:r>
          </a:p>
        </p:txBody>
      </p:sp>
      <p:sp>
        <p:nvSpPr>
          <p:cNvPr id="38" name="Experiment discipline"/>
          <p:cNvSpPr txBox="1"/>
          <p:nvPr/>
        </p:nvSpPr>
        <p:spPr>
          <a:xfrm>
            <a:off x="520000" y="3680000"/>
            <a:ext cx="900000" cy="25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l"/>
            <a:r>
              <a:rPr lang="zh-CN" sz="110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实验纪律</a:t>
            </a:r>
          </a:p>
        </p:txBody>
      </p:sp>
      <p:sp>
        <p:nvSpPr>
          <p:cNvPr id="39" name="Tag"/>
          <p:cNvSpPr txBox="1"/>
          <p:nvPr/>
        </p:nvSpPr>
        <p:spPr>
          <a:xfrm>
            <a:off x="520000" y="4050000"/>
            <a:ext cx="2550000" cy="3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9C9A"/>
            </a:solidFill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 b="1">
                <a:solidFill>
                  <a:srgbClr val="2C9C9A"/>
                </a:solidFill>
                <a:latin typeface="Microsoft YaHei"/>
                <a:ea typeface="Microsoft YaHei"/>
                <a:cs typeface="Microsoft YaHei"/>
              </a:rPr>
              <a:t>whole-log split</a:t>
            </a:r>
          </a:p>
        </p:txBody>
      </p:sp>
      <p:sp>
        <p:nvSpPr>
          <p:cNvPr id="40" name="Tag"/>
          <p:cNvSpPr txBox="1"/>
          <p:nvPr/>
        </p:nvSpPr>
        <p:spPr>
          <a:xfrm>
            <a:off x="3370000" y="4050000"/>
            <a:ext cx="2550000" cy="3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9C9A"/>
            </a:solidFill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 b="1">
                <a:solidFill>
                  <a:srgbClr val="2C9C9A"/>
                </a:solidFill>
                <a:latin typeface="Microsoft YaHei"/>
                <a:ea typeface="Microsoft YaHei"/>
                <a:cs typeface="Microsoft YaHei"/>
              </a:rPr>
              <a:t>date-stratified 5-fold</a:t>
            </a:r>
          </a:p>
        </p:txBody>
      </p:sp>
      <p:sp>
        <p:nvSpPr>
          <p:cNvPr id="41" name="Tag"/>
          <p:cNvSpPr txBox="1"/>
          <p:nvPr/>
        </p:nvSpPr>
        <p:spPr>
          <a:xfrm>
            <a:off x="6220000" y="4050000"/>
            <a:ext cx="2550000" cy="3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9C9A"/>
            </a:solidFill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 b="1">
                <a:solidFill>
                  <a:srgbClr val="2C9C9A"/>
                </a:solidFill>
                <a:latin typeface="Microsoft YaHei"/>
                <a:ea typeface="Microsoft YaHei"/>
                <a:cs typeface="Microsoft YaHei"/>
              </a:rPr>
              <a:t>no acceleration leakage</a:t>
            </a:r>
          </a:p>
        </p:txBody>
      </p:sp>
      <p:sp>
        <p:nvSpPr>
          <p:cNvPr id="42" name="Tag"/>
          <p:cNvSpPr txBox="1"/>
          <p:nvPr/>
        </p:nvSpPr>
        <p:spPr>
          <a:xfrm>
            <a:off x="9070000" y="4050000"/>
            <a:ext cx="2550000" cy="3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9C9A"/>
            </a:solidFill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900" b="1">
                <a:solidFill>
                  <a:srgbClr val="2C9C9A"/>
                </a:solidFill>
                <a:latin typeface="Microsoft YaHei"/>
                <a:ea typeface="Microsoft YaHei"/>
                <a:cs typeface="Microsoft YaHei"/>
              </a:rPr>
              <a:t>held-out reporting</a:t>
            </a:r>
          </a:p>
        </p:txBody>
      </p:sp>
      <p:sp>
        <p:nvSpPr>
          <p:cNvPr id="43" name="Conclusion band"/>
          <p:cNvSpPr txBox="1"/>
          <p:nvPr/>
        </p:nvSpPr>
        <p:spPr>
          <a:xfrm>
            <a:off x="520000" y="5160000"/>
            <a:ext cx="11152000" cy="720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1F6F9F"/>
            </a:solidFill>
          </a:ln>
        </p:spPr>
      </p:sp>
      <p:sp>
        <p:nvSpPr>
          <p:cNvPr id="44" name="Conclusion label"/>
          <p:cNvSpPr txBox="1"/>
          <p:nvPr/>
        </p:nvSpPr>
        <p:spPr>
          <a:xfrm>
            <a:off x="720000" y="5320000"/>
            <a:ext cx="900000" cy="26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zh-CN" sz="1050" b="1">
                <a:solidFill>
                  <a:srgbClr val="1F6F9F"/>
                </a:solidFill>
                <a:latin typeface="Microsoft YaHei"/>
                <a:ea typeface="Microsoft YaHei"/>
                <a:cs typeface="Microsoft YaHei"/>
              </a:rPr>
              <a:t>论文结论</a:t>
            </a:r>
          </a:p>
        </p:txBody>
      </p:sp>
      <p:sp>
        <p:nvSpPr>
          <p:cNvPr id="45" name="Conclusion text"/>
          <p:cNvSpPr txBox="1"/>
          <p:nvPr/>
        </p:nvSpPr>
        <p:spPr>
          <a:xfrm>
            <a:off x="1700000" y="5215000"/>
            <a:ext cx="9692000" cy="450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91440" tIns="45720" rIns="91440" bIns="45720"/>
          <a:lstStyle/>
          <a:p>
            <a:pPr algn="l"/>
            <a:r>
              <a:rPr lang="zh-CN" sz="1100" b="1">
                <a:solidFill>
                  <a:srgbClr val="12324A"/>
                </a:solidFill>
                <a:latin typeface="Microsoft YaHei"/>
                <a:ea typeface="Microsoft YaHei"/>
                <a:cs typeface="Microsoft YaHei"/>
              </a:rPr>
              <a:t>解析模型提供可解释 force prior；真实 effective moment 需单独处理；residual 具有可诊断结构，可指导仿真模型修正。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">
  <a:themeElements>
    <a:clrScheme name="Clean">
      <a:dk1>
        <a:srgbClr val="12324A"/>
      </a:dk1>
      <a:lt1>
        <a:srgbClr val="FFFFFF"/>
      </a:lt1>
      <a:dk2>
        <a:srgbClr val="6B7785"/>
      </a:dk2>
      <a:lt2>
        <a:srgbClr val="F7FAFC"/>
      </a:lt2>
      <a:accent1>
        <a:srgbClr val="1F6F9F"/>
      </a:accent1>
      <a:accent2>
        <a:srgbClr val="2C9C9A"/>
      </a:accent2>
      <a:accent3>
        <a:srgbClr val="D97706"/>
      </a:accent3>
      <a:accent4>
        <a:srgbClr val="8EA4B8"/>
      </a:accent4>
      <a:accent5>
        <a:srgbClr val="EAF3FA"/>
      </a:accent5>
      <a:accent6>
        <a:srgbClr val="E8F5F4"/>
      </a:accent6>
      <a:hlink>
        <a:srgbClr val="1F6F9F"/>
      </a:hlink>
      <a:folHlink>
        <a:srgbClr val="2C9C9A"/>
      </a:folHlink>
    </a:clrScheme>
    <a:fontScheme name="Clean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lean">
      <a:fillStyleLst/>
      <a:lnStyleLst/>
      <a:effectStyleLst/>
      <a:bgFillStyleLst/>
    </a:fmtScheme>
  </a:themeElements>
</a:theme>
</file>